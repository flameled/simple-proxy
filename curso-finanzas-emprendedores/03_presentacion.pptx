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Foto o ilustración de un pastel sobre una mesa con una libreta y una calculadora.</a:t>
            </a:r>
          </a:p>
          <a:p/>
          <a:p>
            <a:r>
              <a:t>Dé la bienvenida. Explique que el taller es práctico: se sale con hojas para usar mañana. Aclare desde el inicio que no es asesoría tributaria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Tres burbujas de diálogo con las frases.</a:t>
            </a:r>
          </a:p>
          <a:p/>
          <a:p>
            <a:r>
              <a:t>Pregunta detonante: «¿Alguna vez tuvo una semana de muchas ventas y, aun así, le faltó dinero?». Anote 3 o 4 respuestas en la pizarra; volverá a ellas al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Cuatro frascos con etiquetas: Ventas, Ingresos, Efectivo, Ganancia.</a:t>
            </a:r>
          </a:p>
          <a:p/>
          <a:p>
            <a:r>
              <a:t>Frase clave: «Vender no es lo mismo que cobrar, y cobrar no es lo mismo que ganar». El IVA cobrado en el régimen general no es ingreso del negocio; se ve en el bloque de impuestos.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Dos billeteras: «Negocio» y «Casa», con una flecha de sueldo fijo entre ellas.</a:t>
            </a:r>
          </a:p>
          <a:p/>
          <a:p>
            <a:r>
              <a:t>Mini-ejercicio: lea las 4 situaciones de la guía y pida que el grupo responda venta, efectivo, ganancia o ninguno.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Dos columnas con íconos: harina y huevos / casa y recibo de luz.</a:t>
            </a:r>
          </a:p>
          <a:p/>
          <a:p>
            <a:r>
              <a:t>Pida que cada participante clasifique 5 gastos de su negocio en la Hoja 2. Para servicios: el tinte o el champú por cliente es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Pastel dividido en porciones: ingredientes, empaque, gas y «parte de los fijos».</a:t>
            </a:r>
          </a:p>
          <a:p/>
          <a:p>
            <a:r>
              <a:t>Rosa es pequeña contribuyente: no recupera el IVA de sus compras, por eso usa el precio total pagado. Recalque que vender poco «encarece» cada unidad.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Etiqueta de precio Q160 desarmada en partes de colores: Q52, Q70, Q8, Q30.</a:t>
            </a:r>
          </a:p>
          <a:p/>
          <a:p>
            <a:r>
              <a:t>Error frecuente: Q152 × 1.05 = Q159.60, queda corto. En el régimen general se calcula el precio sin IVA y luego se agrega el 12 %, que no es ingreso del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Alcancía de costos fijos que se llena con Q100 por cada pastel.</a:t>
            </a:r>
          </a:p>
          <a:p/>
          <a:p>
            <a:r>
              <a:t>Pregunta: «Si un cliente pide 10 pasteles a Q120, ¿conviene?». Margen: Q120 − Q6 − Q52 = Q62. Aporta, pero menos; solo si hay capacidad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Gráfica sencilla: línea de costos totales y línea de ventas que se cruzan en 70 pasteles.</a:t>
            </a:r>
          </a:p>
          <a:p/>
          <a:p>
            <a:r>
              <a:t>Haga la comprobación en la pizarra: 11,200 − 560 − 3,640 − 7,000 = 0. Para negocios con muchos productos, use la Forma 2 de la Hoja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Foto de una libreta con columnas Fecha · Concepto · Entrada · Salida · Saldo.</a:t>
            </a:r>
          </a:p>
          <a:p/>
          <a:p>
            <a:r>
              <a:t>Muestre la Hoja 1. Recalque que mezclar dinero personal y del negocio impide saber si se gana, hace que se gaste el dinero de insumos o impuestos y dificulta pedir crédito.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Termómetro de efectivo por semana.</a:t>
            </a:r>
          </a:p>
          <a:p/>
          <a:p>
            <a:r>
              <a:t>Pregunta: «¿Y si la cafetería no paga en la semana 2 y hay que reparar el horno por Q2,000?». El saldo de la semana 2 queda en −Q450. Pida soluciones; el sobre de impuestos NO es una opción.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Tres sobres de colores, uno por situación, con la frase central arriba.</a:t>
            </a:r>
          </a:p>
          <a:p/>
          <a:p>
            <a:r>
              <a:t>No dé asesoría individual. Si preguntan por su caso: «pregúntelo a su contador o a la SAT». El régimen electrónico de pequeño contribuyente (4 %) fue derogado desde el 31/07/2025.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Dos columnas comparativas con colores distintos.</a:t>
            </a:r>
          </a:p>
          <a:p/>
          <a:p>
            <a:r>
              <a:t>En el régimen general el ingreso por ventas es Q15,000, no Q16,800. Las facturas de pequeño contribuyente no dan crédito fiscal. ISR, ejemplo SAT del régimen opcional simplificado: Q1,120 ÷ 1.12 = Q1,000 × 5 % = Q50.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Recurso visual sugerido: Lista de verificación con casillas grandes.</a:t>
            </a:r>
          </a:p>
          <a:p/>
          <a:p>
            <a:r>
              <a:t>Entregue el ejercicio de salida (3 minutos). Pida que 2 o 3 personas compartan su acción. Recuerde que las hojas de trabajo son para seguir usándolas.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7B3F00"/>
                </a:solidFill>
              </a:defRPr>
            </a:pPr>
            <a:r>
              <a:t>El dinero de mi negocio: claro, ordenado y a tiempo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Taller práctico de finanzas básicas para emprendedores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90 minutos · Caso: Repostería «Dulce Canela»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Educación financiera básica. No sustituye la orientación de un contador.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¿Le ha pasado?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Vendí mucho… y aun así me faltó dinero.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No sé si mi negocio gana o pierde.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Usé el dinero de los impuestos para otra cosa.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Hoy vamos a acompañar a Rosa y su repostería, Dulce Canela.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2/14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Vender, cobrar y ganar no son lo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Ventas: lo que vendí, lo haya cobrado o no.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Ingresos: todo lo que gané por la actividad (ventas + otros ingresos).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Efectivo disponible: lo que de verdad tengo hoy en caja o banco.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Ganancia: lo que queda después de TODOS los costos, gastos e impuestos.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Dulce Canela este 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Q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Ventas (100 pasteles × Q160)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Por cobrar a la cafetería (20 pasteles)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Ganancia (la calcularemos)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3,000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3/14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¿Es del negocio o es mío?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Préstamo de Q5,000: entra efectivo, pero no es venta ni ganancia.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Rosa saca Q600 para su casa: es un RETIRO PERSONAL, no un gasto del negocio.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El dueño se paga un sueldo fijo; lo demás se queda en el negocio.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Idealmente: una cuenta, caja o sobre aparte para el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4/14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Costos variables y costos fijos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Variable: cambia con lo que produzco. «Si hago un pastel más, ¿gasto más?»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Fijo: lo pago aunque venda poco. «Si no vendo nada, ¿igual lo pago?»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Gastos del negocio: lo necesario para operar y vender (publicidad, internet).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El sueldo del dueño y el ahorro para reponer equipo son costos fijos.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Variables (por pastel)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Fijos (al mes)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Ingredientes Q42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Alquiler Q1,800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Caja y base 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Ayudante Q1,200 · Servicios Q650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Gas 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Publicidad Q350 · Ahorro horno Q300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Total Q52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Sueldo de Rosa Q2,700 · Total Q7,000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5/14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¿Cuánto me cuesta un pastel?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Paso 1. Costo variable por pastel: Q52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Paso 2. Costos fijos del mes: Q7,000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Paso 3. Fijos por pastel (100 al mes): Q7,000 ÷ 100 = Q70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Paso 4. Costo total por pastel: Q52 + Q70 = Q122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Si vende solo 50: Q7,000 ÷ 50 = Q140 → costo total Q192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6/14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¿A cuánto vendo?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El precio cubre: costo variable + parte de fijos + impuesto que aplique + ganancia.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Pequeño contribuyente: el 5 % se calcula sobre el precio, no sobre el costo.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Precio = (costo total + ganancia) ÷ 0.95 = (Q122 + Q30) ÷ 0.95 = Q160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Comprobación: Q160 − Q8 de impuesto = Q152 = Q122 + Q30 ✔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Luego compare con el mercado: el cálculo da el mínimo sano.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7/14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Margen de contribución vs. ganancia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Margen de contribución: lo que cada pastel aporta para pagar los fijos.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Ganancia: lo que sobra después de pagar también los fijos.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Q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(−) Impuesto 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(−) Costo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= Margen de contribución por pastel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× 100 pasteles = margen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10,000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(−) Costos fijos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7,000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= Ganancia del 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3,000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8/14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¿Cuánto necesito vender? Punto de equilibrio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Punto de equilibrio = costos fijos ÷ margen de contribución por unidad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Q7,000 ÷ Q100 = 70 pasteles al mes (Q11,200 en ventas)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Unos 18 pasteles por semana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Del pastel 71 en adelante, cada uno deja Q100 de ganancia.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Si hay decimales, redondear siempre hacia arriba.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9/14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Anotar todo: entradas y salidas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Anote el mismo día (libreta, celular o Excel).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Cada movimiento con su tipo: venta, cobro, insumo, gasto fijo, impuesto, retiro personal.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Saldo = saldo anterior + entrada − salida.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Lo que se anota, se puede mejorar.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10/14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Flujo de efectivo semanal de Dulce Canela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Saldo inicial + entradas − salidas = saldo final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731520"/>
                <a:gridCol w="731520"/>
                <a:gridCol w="73152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Sem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Sem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Sem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Sem 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Saldo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5,750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Entradas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6,400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Salidas (incluye Q200 a impuestos)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3,450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Saldo 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1,750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4,750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5,750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5,500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11/14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El dinero de los impuestos no es ganancia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7B3F00"/>
                </a:solidFill>
              </a:defRPr>
            </a:pPr>
            <a:r>
              <a:t>«El dinero destinado a impuestos no es ganancia disponible para el negocio. Debe registrarse y reservarse; la forma de calcularlo y pagarlo depende del régimen tributario.»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Pequeño contribuyente: 5 % de los ingresos brutos del mes; se paga dentro del mes siguiente (Ley del IVA, arts. 47 y 48). Límite 2026 según la SAT: Q500,285.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Régimen general del IVA: 12 % incluido en el precio; se paga débito fiscal − crédito fiscal que proceda. No se entrega todo el IVA cobrado.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ISR: obligación del negocio según su régimen (sobre utilidades o sobre ingresos). No es un recargo aparte al cliente.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12/14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Mismo negocio, régimen distinto: no se calcula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Dulce Canela (pequeño contribuyente): Q16,000 × 5 % = Q800 → reservar Q200 por semana.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Ejemplo didáctico de régimen general (otro negocio):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64592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75360"/>
                <a:gridCol w="975360"/>
                <a:gridCol w="975360"/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Concepto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Con 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Sin 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IVA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Ventas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Débito 1,800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Compras con factura de régimen 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Crédito 600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IVA a pagar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1,200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13/14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9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7B3F00"/>
                </a:solidFill>
              </a:defRPr>
            </a:pPr>
            <a:r>
              <a:t>Mi acción para esta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Vender no es ganar; cobrar no es ganar; el dinero de impuestos no es ganancia.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Elija UNA acción: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· Abrir un sobre o cuenta para impuestos  · Calcular el costo de mi producto estrella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</a:defRPr>
            </a:pPr>
            <a:r>
              <a:t>· Anotar todo durante 7 días  · Fijarme un sueldo  · Preguntar a mi contador mi régimen y fechas de pago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t>14/14 · Educación financiera básica · No sustituye la orientación de un contador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